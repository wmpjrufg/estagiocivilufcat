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7315200" cy="9601200"/>
  <p:embeddedFontLst>
    <p:embeddedFont>
      <p:font typeface="Josefin Sans"/>
      <p:regular r:id="rId13"/>
      <p:bold r:id="rId14"/>
      <p:italic r:id="rId15"/>
      <p:boldItalic r:id="rId16"/>
    </p:embeddedFont>
    <p:embeddedFont>
      <p:font typeface="Sorts Mill Goudy"/>
      <p:regular r:id="rId17"/>
      <p: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JosefinSans-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JosefinSans-italic.fntdata"/><Relationship Id="rId14" Type="http://schemas.openxmlformats.org/officeDocument/2006/relationships/font" Target="fonts/JosefinSans-bold.fntdata"/><Relationship Id="rId17" Type="http://schemas.openxmlformats.org/officeDocument/2006/relationships/font" Target="fonts/SortsMillGoudy-regular.fntdata"/><Relationship Id="rId16" Type="http://schemas.openxmlformats.org/officeDocument/2006/relationships/font" Target="fonts/JosefinSans-boldItalic.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SortsMillGoud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3169920" cy="480060"/>
          </a:xfrm>
          <a:prstGeom prst="rect">
            <a:avLst/>
          </a:prstGeom>
          <a:noFill/>
          <a:ln>
            <a:noFill/>
          </a:ln>
        </p:spPr>
        <p:txBody>
          <a:bodyPr anchorCtr="0" anchor="t" bIns="49500" lIns="99025" spcFirstLastPara="1" rIns="99025" wrap="square" tIns="495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8" y="1"/>
            <a:ext cx="3169920" cy="480060"/>
          </a:xfrm>
          <a:prstGeom prst="rect">
            <a:avLst/>
          </a:prstGeom>
          <a:noFill/>
          <a:ln>
            <a:noFill/>
          </a:ln>
        </p:spPr>
        <p:txBody>
          <a:bodyPr anchorCtr="0" anchor="t" bIns="49500" lIns="99025" spcFirstLastPara="1" rIns="99025" wrap="square" tIns="495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58788" y="720725"/>
            <a:ext cx="6397625" cy="3598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9500" lIns="99025" spcFirstLastPara="1" rIns="99025" wrap="square" tIns="495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9500" lIns="99025" spcFirstLastPara="1" rIns="99025" wrap="square" tIns="495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8" y="9119474"/>
            <a:ext cx="3169920" cy="480060"/>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pt-BR"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731520" y="4560570"/>
            <a:ext cx="5852160" cy="432054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458788" y="720725"/>
            <a:ext cx="6397625" cy="3598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458788" y="720725"/>
            <a:ext cx="6397625" cy="3598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731520" y="4560570"/>
            <a:ext cx="5852160" cy="432054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95" name="Google Shape;95;p2:notes"/>
          <p:cNvSpPr txBox="1"/>
          <p:nvPr>
            <p:ph idx="3" type="hdr"/>
          </p:nvPr>
        </p:nvSpPr>
        <p:spPr>
          <a:xfrm>
            <a:off x="0" y="1"/>
            <a:ext cx="3169920" cy="48006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300"/>
              <a:buFont typeface="Calibri"/>
              <a:buNone/>
            </a:pPr>
            <a:r>
              <a:rPr lang="pt-BR"/>
              <a:t>ESTRUTURAS</a:t>
            </a:r>
            <a:endParaRPr/>
          </a:p>
        </p:txBody>
      </p:sp>
      <p:sp>
        <p:nvSpPr>
          <p:cNvPr id="96" name="Google Shape;96;p2:notes"/>
          <p:cNvSpPr txBox="1"/>
          <p:nvPr>
            <p:ph idx="12" type="sldNum"/>
          </p:nvPr>
        </p:nvSpPr>
        <p:spPr>
          <a:xfrm>
            <a:off x="4143588" y="9119474"/>
            <a:ext cx="3169920" cy="480060"/>
          </a:xfrm>
          <a:prstGeom prst="rect">
            <a:avLst/>
          </a:prstGeom>
          <a:noFill/>
          <a:ln>
            <a:noFill/>
          </a:ln>
        </p:spPr>
        <p:txBody>
          <a:bodyPr anchorCtr="0" anchor="b" bIns="49500" lIns="99025" spcFirstLastPara="1" rIns="99025" wrap="square" tIns="49500">
            <a:noAutofit/>
          </a:bodyPr>
          <a:lstStyle/>
          <a:p>
            <a:pPr indent="0" lvl="0" marL="0" rtl="0" algn="r">
              <a:lnSpc>
                <a:spcPct val="100000"/>
              </a:lnSpc>
              <a:spcBef>
                <a:spcPts val="0"/>
              </a:spcBef>
              <a:spcAft>
                <a:spcPts val="0"/>
              </a:spcAft>
              <a:buClr>
                <a:schemeClr val="dk1"/>
              </a:buClr>
              <a:buSzPts val="1300"/>
              <a:buFont typeface="Calibri"/>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458788" y="720725"/>
            <a:ext cx="6397625" cy="3598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731520" y="4560570"/>
            <a:ext cx="5852160" cy="432054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09" name="Google Shape;109;p3:notes"/>
          <p:cNvSpPr txBox="1"/>
          <p:nvPr>
            <p:ph idx="3" type="hdr"/>
          </p:nvPr>
        </p:nvSpPr>
        <p:spPr>
          <a:xfrm>
            <a:off x="0" y="1"/>
            <a:ext cx="3169920" cy="48006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300"/>
              <a:buFont typeface="Calibri"/>
              <a:buNone/>
            </a:pPr>
            <a:r>
              <a:rPr lang="pt-BR"/>
              <a:t>ESTRUTURAS</a:t>
            </a:r>
            <a:endParaRPr/>
          </a:p>
        </p:txBody>
      </p:sp>
      <p:sp>
        <p:nvSpPr>
          <p:cNvPr id="110" name="Google Shape;110;p3:notes"/>
          <p:cNvSpPr txBox="1"/>
          <p:nvPr>
            <p:ph idx="12" type="sldNum"/>
          </p:nvPr>
        </p:nvSpPr>
        <p:spPr>
          <a:xfrm>
            <a:off x="4143588" y="9119474"/>
            <a:ext cx="3169920" cy="480060"/>
          </a:xfrm>
          <a:prstGeom prst="rect">
            <a:avLst/>
          </a:prstGeom>
          <a:noFill/>
          <a:ln>
            <a:noFill/>
          </a:ln>
        </p:spPr>
        <p:txBody>
          <a:bodyPr anchorCtr="0" anchor="b" bIns="49500" lIns="99025" spcFirstLastPara="1" rIns="99025" wrap="square" tIns="49500">
            <a:noAutofit/>
          </a:bodyPr>
          <a:lstStyle/>
          <a:p>
            <a:pPr indent="0" lvl="0" marL="0" rtl="0" algn="r">
              <a:lnSpc>
                <a:spcPct val="100000"/>
              </a:lnSpc>
              <a:spcBef>
                <a:spcPts val="0"/>
              </a:spcBef>
              <a:spcAft>
                <a:spcPts val="0"/>
              </a:spcAft>
              <a:buClr>
                <a:schemeClr val="dk1"/>
              </a:buClr>
              <a:buSzPts val="1300"/>
              <a:buFont typeface="Calibri"/>
              <a:buNone/>
            </a:pPr>
            <a:fld id="{00000000-1234-1234-1234-123412341234}" type="slidenum">
              <a:rPr lang="pt-B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458788" y="720725"/>
            <a:ext cx="6397625" cy="3598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731520" y="4560570"/>
            <a:ext cx="5852160" cy="432054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24" name="Google Shape;124;p4:notes"/>
          <p:cNvSpPr txBox="1"/>
          <p:nvPr>
            <p:ph idx="3" type="hdr"/>
          </p:nvPr>
        </p:nvSpPr>
        <p:spPr>
          <a:xfrm>
            <a:off x="0" y="1"/>
            <a:ext cx="3169920" cy="48006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300"/>
              <a:buFont typeface="Calibri"/>
              <a:buNone/>
            </a:pPr>
            <a:r>
              <a:rPr lang="pt-BR"/>
              <a:t>ESTRUTURAS</a:t>
            </a:r>
            <a:endParaRPr/>
          </a:p>
        </p:txBody>
      </p:sp>
      <p:sp>
        <p:nvSpPr>
          <p:cNvPr id="125" name="Google Shape;125;p4:notes"/>
          <p:cNvSpPr txBox="1"/>
          <p:nvPr>
            <p:ph idx="12" type="sldNum"/>
          </p:nvPr>
        </p:nvSpPr>
        <p:spPr>
          <a:xfrm>
            <a:off x="4143588" y="9119474"/>
            <a:ext cx="3169920" cy="480060"/>
          </a:xfrm>
          <a:prstGeom prst="rect">
            <a:avLst/>
          </a:prstGeom>
          <a:noFill/>
          <a:ln>
            <a:noFill/>
          </a:ln>
        </p:spPr>
        <p:txBody>
          <a:bodyPr anchorCtr="0" anchor="b" bIns="49500" lIns="99025" spcFirstLastPara="1" rIns="99025" wrap="square" tIns="49500">
            <a:noAutofit/>
          </a:bodyPr>
          <a:lstStyle/>
          <a:p>
            <a:pPr indent="0" lvl="0" marL="0" rtl="0" algn="r">
              <a:lnSpc>
                <a:spcPct val="100000"/>
              </a:lnSpc>
              <a:spcBef>
                <a:spcPts val="0"/>
              </a:spcBef>
              <a:spcAft>
                <a:spcPts val="0"/>
              </a:spcAft>
              <a:buClr>
                <a:schemeClr val="dk1"/>
              </a:buClr>
              <a:buSzPts val="1300"/>
              <a:buFont typeface="Calibri"/>
              <a:buNone/>
            </a:pPr>
            <a:fld id="{00000000-1234-1234-1234-123412341234}" type="slidenum">
              <a:rPr lang="pt-B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458788" y="720725"/>
            <a:ext cx="6397625" cy="3598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5:notes"/>
          <p:cNvSpPr txBox="1"/>
          <p:nvPr>
            <p:ph idx="1" type="body"/>
          </p:nvPr>
        </p:nvSpPr>
        <p:spPr>
          <a:xfrm>
            <a:off x="731520" y="4560570"/>
            <a:ext cx="5852160" cy="432054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38" name="Google Shape;138;p5:notes"/>
          <p:cNvSpPr txBox="1"/>
          <p:nvPr>
            <p:ph idx="3" type="hdr"/>
          </p:nvPr>
        </p:nvSpPr>
        <p:spPr>
          <a:xfrm>
            <a:off x="0" y="1"/>
            <a:ext cx="3169920" cy="48006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300"/>
              <a:buFont typeface="Calibri"/>
              <a:buNone/>
            </a:pPr>
            <a:r>
              <a:rPr lang="pt-BR"/>
              <a:t>ESTRUTURAS</a:t>
            </a:r>
            <a:endParaRPr/>
          </a:p>
        </p:txBody>
      </p:sp>
      <p:sp>
        <p:nvSpPr>
          <p:cNvPr id="139" name="Google Shape;139;p5:notes"/>
          <p:cNvSpPr txBox="1"/>
          <p:nvPr>
            <p:ph idx="12" type="sldNum"/>
          </p:nvPr>
        </p:nvSpPr>
        <p:spPr>
          <a:xfrm>
            <a:off x="4143588" y="9119474"/>
            <a:ext cx="3169920" cy="480060"/>
          </a:xfrm>
          <a:prstGeom prst="rect">
            <a:avLst/>
          </a:prstGeom>
          <a:noFill/>
          <a:ln>
            <a:noFill/>
          </a:ln>
        </p:spPr>
        <p:txBody>
          <a:bodyPr anchorCtr="0" anchor="b" bIns="49500" lIns="99025" spcFirstLastPara="1" rIns="99025" wrap="square" tIns="49500">
            <a:noAutofit/>
          </a:bodyPr>
          <a:lstStyle/>
          <a:p>
            <a:pPr indent="0" lvl="0" marL="0" rtl="0" algn="r">
              <a:lnSpc>
                <a:spcPct val="100000"/>
              </a:lnSpc>
              <a:spcBef>
                <a:spcPts val="0"/>
              </a:spcBef>
              <a:spcAft>
                <a:spcPts val="0"/>
              </a:spcAft>
              <a:buClr>
                <a:schemeClr val="dk1"/>
              </a:buClr>
              <a:buSzPts val="1300"/>
              <a:buFont typeface="Calibri"/>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458788" y="720725"/>
            <a:ext cx="6397625" cy="3598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731520" y="4560570"/>
            <a:ext cx="5852160" cy="432054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2" name="Google Shape;152;p6:notes"/>
          <p:cNvSpPr txBox="1"/>
          <p:nvPr>
            <p:ph idx="3" type="hdr"/>
          </p:nvPr>
        </p:nvSpPr>
        <p:spPr>
          <a:xfrm>
            <a:off x="0" y="1"/>
            <a:ext cx="3169920" cy="48006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Clr>
                <a:schemeClr val="dk1"/>
              </a:buClr>
              <a:buSzPts val="1300"/>
              <a:buFont typeface="Calibri"/>
              <a:buNone/>
            </a:pPr>
            <a:r>
              <a:rPr lang="pt-BR"/>
              <a:t>ESTRUTURAS</a:t>
            </a:r>
            <a:endParaRPr/>
          </a:p>
        </p:txBody>
      </p:sp>
      <p:sp>
        <p:nvSpPr>
          <p:cNvPr id="153" name="Google Shape;153;p6:notes"/>
          <p:cNvSpPr txBox="1"/>
          <p:nvPr>
            <p:ph idx="12" type="sldNum"/>
          </p:nvPr>
        </p:nvSpPr>
        <p:spPr>
          <a:xfrm>
            <a:off x="4143588" y="9119474"/>
            <a:ext cx="3169920" cy="480060"/>
          </a:xfrm>
          <a:prstGeom prst="rect">
            <a:avLst/>
          </a:prstGeom>
          <a:noFill/>
          <a:ln>
            <a:noFill/>
          </a:ln>
        </p:spPr>
        <p:txBody>
          <a:bodyPr anchorCtr="0" anchor="b" bIns="49500" lIns="99025" spcFirstLastPara="1" rIns="99025" wrap="square" tIns="49500">
            <a:noAutofit/>
          </a:bodyPr>
          <a:lstStyle/>
          <a:p>
            <a:pPr indent="0" lvl="0" marL="0" rtl="0" algn="r">
              <a:lnSpc>
                <a:spcPct val="100000"/>
              </a:lnSpc>
              <a:spcBef>
                <a:spcPts val="0"/>
              </a:spcBef>
              <a:spcAft>
                <a:spcPts val="0"/>
              </a:spcAft>
              <a:buClr>
                <a:schemeClr val="dk1"/>
              </a:buClr>
              <a:buSzPts val="1300"/>
              <a:buFont typeface="Calibri"/>
              <a:buNone/>
            </a:pPr>
            <a:fld id="{00000000-1234-1234-1234-123412341234}" type="slidenum">
              <a:rPr lang="pt-B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ph idx="1" type="body"/>
          </p:nvPr>
        </p:nvSpPr>
        <p:spPr>
          <a:xfrm>
            <a:off x="731520" y="4560570"/>
            <a:ext cx="5852160" cy="4320540"/>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164" name="Google Shape;164;p7:notes"/>
          <p:cNvSpPr/>
          <p:nvPr>
            <p:ph idx="2" type="sldImg"/>
          </p:nvPr>
        </p:nvSpPr>
        <p:spPr>
          <a:xfrm>
            <a:off x="458788" y="720725"/>
            <a:ext cx="6397625" cy="3598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zotero.org/google-docs/?MaO5BQ" TargetMode="External"/><Relationship Id="rId4" Type="http://schemas.openxmlformats.org/officeDocument/2006/relationships/hyperlink" Target="https://www.zotero.org/google-docs/?MaO5BQ" TargetMode="External"/><Relationship Id="rId5" Type="http://schemas.openxmlformats.org/officeDocument/2006/relationships/hyperlink" Target="https://www.zotero.org/google-docs/?MaO5BQ"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nvSpPr>
        <p:spPr>
          <a:xfrm>
            <a:off x="479376" y="240130"/>
            <a:ext cx="10513168"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pt-BR" sz="2400" u="none" cap="none" strike="noStrike">
                <a:solidFill>
                  <a:schemeClr val="dk1"/>
                </a:solidFill>
                <a:latin typeface="Twentieth Century"/>
                <a:ea typeface="Twentieth Century"/>
                <a:cs typeface="Twentieth Century"/>
                <a:sym typeface="Twentieth Century"/>
              </a:rPr>
              <a:t>APRESENTAÇÃO FINAL DO ESTÁGIO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wentieth Century"/>
              <a:ea typeface="Twentieth Century"/>
              <a:cs typeface="Twentieth Century"/>
              <a:sym typeface="Twentieth Century"/>
            </a:endParaRPr>
          </a:p>
          <a:p>
            <a:pPr indent="0" lvl="0" marL="0" marR="0" rtl="0" algn="just">
              <a:lnSpc>
                <a:spcPct val="100000"/>
              </a:lnSpc>
              <a:spcBef>
                <a:spcPts val="0"/>
              </a:spcBef>
              <a:spcAft>
                <a:spcPts val="0"/>
              </a:spcAft>
              <a:buClr>
                <a:srgbClr val="000000"/>
              </a:buClr>
              <a:buSzPts val="2000"/>
              <a:buFont typeface="Arial"/>
              <a:buNone/>
            </a:pPr>
            <a:r>
              <a:rPr b="1" i="0" lang="pt-BR" sz="2000" u="none" cap="none" strike="noStrike">
                <a:solidFill>
                  <a:schemeClr val="dk1"/>
                </a:solidFill>
                <a:latin typeface="Twentieth Century"/>
                <a:ea typeface="Twentieth Century"/>
                <a:cs typeface="Twentieth Century"/>
                <a:sym typeface="Twentieth Century"/>
              </a:rPr>
              <a:t>FACULDADE DE ENGENHARIA – UNIVERSIDADE FEDERAL DE CATALÃO (UFCAT)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1" i="1" lang="pt-BR" sz="2000" u="none" cap="none" strike="noStrike">
                <a:solidFill>
                  <a:schemeClr val="dk1"/>
                </a:solidFill>
                <a:latin typeface="Twentieth Century"/>
                <a:ea typeface="Twentieth Century"/>
                <a:cs typeface="Twentieth Century"/>
                <a:sym typeface="Twentieth Century"/>
              </a:rPr>
              <a:t>CURSO DE ENGENHARIA CIVIL</a:t>
            </a:r>
            <a:endParaRPr b="0" i="0" sz="1400" u="none" cap="none" strike="noStrike">
              <a:solidFill>
                <a:srgbClr val="000000"/>
              </a:solidFill>
              <a:latin typeface="Arial"/>
              <a:ea typeface="Arial"/>
              <a:cs typeface="Arial"/>
              <a:sym typeface="Arial"/>
            </a:endParaRPr>
          </a:p>
        </p:txBody>
      </p:sp>
      <p:sp>
        <p:nvSpPr>
          <p:cNvPr id="89" name="Google Shape;89;p13"/>
          <p:cNvSpPr/>
          <p:nvPr/>
        </p:nvSpPr>
        <p:spPr>
          <a:xfrm>
            <a:off x="407368" y="5055396"/>
            <a:ext cx="6192688" cy="9233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chemeClr val="dk1"/>
                </a:solidFill>
                <a:latin typeface="Twentieth Century"/>
                <a:ea typeface="Twentieth Century"/>
                <a:cs typeface="Twentieth Century"/>
                <a:sym typeface="Twentieth Century"/>
              </a:rPr>
              <a:t>Discente:</a:t>
            </a:r>
            <a:r>
              <a:rPr lang="pt-BR"/>
              <a:t> </a:t>
            </a:r>
            <a:r>
              <a:rPr b="1" i="0" lang="pt-BR" sz="1800" u="none" cap="none" strike="noStrike">
                <a:solidFill>
                  <a:srgbClr val="FF0000"/>
                </a:solidFill>
                <a:latin typeface="Twentieth Century"/>
                <a:ea typeface="Twentieth Century"/>
                <a:cs typeface="Twentieth Century"/>
                <a:sym typeface="Twentieth Century"/>
              </a:rPr>
              <a:t>Albert Einsten Junior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chemeClr val="dk1"/>
                </a:solidFill>
                <a:latin typeface="Twentieth Century"/>
                <a:ea typeface="Twentieth Century"/>
                <a:cs typeface="Twentieth Century"/>
                <a:sym typeface="Twentieth Century"/>
              </a:rPr>
              <a:t>E-mail :</a:t>
            </a:r>
            <a:r>
              <a:rPr b="1" lang="pt-BR" sz="1800">
                <a:solidFill>
                  <a:schemeClr val="dk1"/>
                </a:solidFill>
                <a:latin typeface="Twentieth Century"/>
                <a:ea typeface="Twentieth Century"/>
                <a:cs typeface="Twentieth Century"/>
                <a:sym typeface="Twentieth Century"/>
              </a:rPr>
              <a:t> </a:t>
            </a:r>
            <a:r>
              <a:rPr b="1" i="0" lang="pt-BR" sz="1800" u="none" cap="none" strike="noStrike">
                <a:solidFill>
                  <a:srgbClr val="FF0000"/>
                </a:solidFill>
                <a:latin typeface="Twentieth Century"/>
                <a:ea typeface="Twentieth Century"/>
                <a:cs typeface="Twentieth Century"/>
                <a:sym typeface="Twentieth Century"/>
              </a:rPr>
              <a:t>estagio.deciv.ufcat@gmail.com</a:t>
            </a:r>
            <a:endParaRPr b="0" i="0" sz="1400" u="none" cap="none" strike="noStrike">
              <a:solidFill>
                <a:srgbClr val="000000"/>
              </a:solidFill>
              <a:latin typeface="Arial"/>
              <a:ea typeface="Arial"/>
              <a:cs typeface="Arial"/>
              <a:sym typeface="Arial"/>
            </a:endParaRPr>
          </a:p>
        </p:txBody>
      </p:sp>
      <p:sp>
        <p:nvSpPr>
          <p:cNvPr id="90" name="Google Shape;90;p13"/>
          <p:cNvSpPr txBox="1"/>
          <p:nvPr/>
        </p:nvSpPr>
        <p:spPr>
          <a:xfrm>
            <a:off x="1019436" y="2825914"/>
            <a:ext cx="101532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1" lang="pt-BR" sz="2800" u="none" cap="none" strike="noStrike">
                <a:solidFill>
                  <a:srgbClr val="418C21"/>
                </a:solidFill>
                <a:latin typeface="Twentieth Century"/>
                <a:ea typeface="Twentieth Century"/>
                <a:cs typeface="Twentieth Century"/>
                <a:sym typeface="Twentieth Century"/>
              </a:rPr>
              <a:t>ESTÁGIO CURRICULAR OBRIGATÓRIO (ECO)</a:t>
            </a:r>
            <a:endParaRPr b="1" i="1" sz="2800" u="none" cap="none" strike="noStrike">
              <a:solidFill>
                <a:srgbClr val="418C2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2800"/>
              <a:buFont typeface="Arial"/>
              <a:buNone/>
            </a:pPr>
            <a:r>
              <a:rPr b="1" i="1" lang="pt-BR" sz="2800" u="none" cap="none" strike="noStrike">
                <a:solidFill>
                  <a:srgbClr val="418C21"/>
                </a:solidFill>
                <a:latin typeface="Twentieth Century"/>
                <a:ea typeface="Twentieth Century"/>
                <a:cs typeface="Twentieth Century"/>
                <a:sym typeface="Twentieth Century"/>
              </a:rPr>
              <a:t>XXXXXXXNOME DO ALUNOXXXXXXX</a:t>
            </a:r>
            <a:endParaRPr b="0" i="0" sz="1400" u="none" cap="none" strike="noStrike">
              <a:solidFill>
                <a:srgbClr val="000000"/>
              </a:solidFill>
              <a:latin typeface="Arial"/>
              <a:ea typeface="Arial"/>
              <a:cs typeface="Arial"/>
              <a:sym typeface="Arial"/>
            </a:endParaRPr>
          </a:p>
        </p:txBody>
      </p:sp>
      <p:pic>
        <p:nvPicPr>
          <p:cNvPr id="91" name="Google Shape;91;p13"/>
          <p:cNvPicPr preferRelativeResize="0"/>
          <p:nvPr/>
        </p:nvPicPr>
        <p:blipFill rotWithShape="1">
          <a:blip r:embed="rId3">
            <a:alphaModFix/>
          </a:blip>
          <a:srcRect b="0" l="0" r="0" t="0"/>
          <a:stretch/>
        </p:blipFill>
        <p:spPr>
          <a:xfrm>
            <a:off x="9543436" y="4869160"/>
            <a:ext cx="2648564" cy="19888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idx="12" type="sldNum"/>
          </p:nvPr>
        </p:nvSpPr>
        <p:spPr>
          <a:xfrm>
            <a:off x="10805859" y="85350"/>
            <a:ext cx="112278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Twentieth Century"/>
              <a:buNone/>
            </a:pPr>
            <a:fld id="{00000000-1234-1234-1234-123412341234}" type="slidenum">
              <a:rPr b="1" lang="pt-BR" sz="1800">
                <a:solidFill>
                  <a:schemeClr val="dk1"/>
                </a:solidFill>
                <a:latin typeface="Twentieth Century"/>
                <a:ea typeface="Twentieth Century"/>
                <a:cs typeface="Twentieth Century"/>
                <a:sym typeface="Twentieth Century"/>
              </a:rPr>
              <a:t>‹#›</a:t>
            </a:fld>
            <a:endParaRPr b="1" sz="1800">
              <a:solidFill>
                <a:schemeClr val="dk1"/>
              </a:solidFill>
              <a:latin typeface="Twentieth Century"/>
              <a:ea typeface="Twentieth Century"/>
              <a:cs typeface="Twentieth Century"/>
              <a:sym typeface="Twentieth Century"/>
            </a:endParaRPr>
          </a:p>
        </p:txBody>
      </p:sp>
      <p:sp>
        <p:nvSpPr>
          <p:cNvPr id="99" name="Google Shape;99;p14"/>
          <p:cNvSpPr/>
          <p:nvPr/>
        </p:nvSpPr>
        <p:spPr>
          <a:xfrm>
            <a:off x="263352" y="81143"/>
            <a:ext cx="4176464"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69B20"/>
              </a:buClr>
              <a:buSzPts val="1800"/>
              <a:buFont typeface="Twentieth Century"/>
              <a:buNone/>
            </a:pPr>
            <a:r>
              <a:rPr b="1" i="0" lang="pt-BR" sz="1800" u="none" cap="none" strike="noStrike">
                <a:solidFill>
                  <a:srgbClr val="469B20"/>
                </a:solidFill>
                <a:latin typeface="Twentieth Century"/>
                <a:ea typeface="Twentieth Century"/>
                <a:cs typeface="Twentieth Century"/>
                <a:sym typeface="Twentieth Century"/>
              </a:rPr>
              <a:t>INTRODUÇÃO</a:t>
            </a:r>
            <a:endParaRPr b="0" i="0" sz="1800" u="none" cap="none" strike="noStrike">
              <a:solidFill>
                <a:srgbClr val="469B20"/>
              </a:solidFill>
              <a:latin typeface="Twentieth Century"/>
              <a:ea typeface="Twentieth Century"/>
              <a:cs typeface="Twentieth Century"/>
              <a:sym typeface="Twentieth Century"/>
            </a:endParaRPr>
          </a:p>
        </p:txBody>
      </p:sp>
      <p:sp>
        <p:nvSpPr>
          <p:cNvPr id="100" name="Google Shape;100;p14"/>
          <p:cNvSpPr txBox="1"/>
          <p:nvPr/>
        </p:nvSpPr>
        <p:spPr>
          <a:xfrm>
            <a:off x="263352" y="616365"/>
            <a:ext cx="7128792" cy="22467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Sorts Mill Goudy"/>
              <a:buNone/>
            </a:pPr>
            <a:r>
              <a:rPr b="0" i="0" lang="pt-BR" sz="2000" u="none" cap="none" strike="noStrike">
                <a:solidFill>
                  <a:schemeClr val="dk1"/>
                </a:solidFill>
                <a:latin typeface="Sorts Mill Goudy"/>
                <a:ea typeface="Sorts Mill Goudy"/>
                <a:cs typeface="Sorts Mill Goudy"/>
                <a:sym typeface="Sorts Mill Goudy"/>
              </a:rPr>
              <a:t>Onde foi o estágio?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Sorts Mill Goudy"/>
              <a:ea typeface="Sorts Mill Goudy"/>
              <a:cs typeface="Sorts Mill Goudy"/>
              <a:sym typeface="Sorts Mill Goudy"/>
            </a:endParaRPr>
          </a:p>
          <a:p>
            <a:pPr indent="0" lvl="0" marL="0" marR="0" rtl="0" algn="just">
              <a:lnSpc>
                <a:spcPct val="100000"/>
              </a:lnSpc>
              <a:spcBef>
                <a:spcPts val="0"/>
              </a:spcBef>
              <a:spcAft>
                <a:spcPts val="0"/>
              </a:spcAft>
              <a:buClr>
                <a:schemeClr val="dk1"/>
              </a:buClr>
              <a:buSzPts val="2000"/>
              <a:buFont typeface="Sorts Mill Goudy"/>
              <a:buNone/>
            </a:pPr>
            <a:r>
              <a:rPr b="0" i="0" lang="pt-BR" sz="2000" u="none" cap="none" strike="noStrike">
                <a:solidFill>
                  <a:schemeClr val="dk1"/>
                </a:solidFill>
                <a:latin typeface="Sorts Mill Goudy"/>
                <a:ea typeface="Sorts Mill Goudy"/>
                <a:cs typeface="Sorts Mill Goudy"/>
                <a:sym typeface="Sorts Mill Goudy"/>
              </a:rPr>
              <a:t>Qual a área do estágio?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Sorts Mill Goudy"/>
              <a:ea typeface="Sorts Mill Goudy"/>
              <a:cs typeface="Sorts Mill Goudy"/>
              <a:sym typeface="Sorts Mill Goudy"/>
            </a:endParaRPr>
          </a:p>
          <a:p>
            <a:pPr indent="0" lvl="0" marL="0" marR="0" rtl="0" algn="just">
              <a:lnSpc>
                <a:spcPct val="100000"/>
              </a:lnSpc>
              <a:spcBef>
                <a:spcPts val="0"/>
              </a:spcBef>
              <a:spcAft>
                <a:spcPts val="0"/>
              </a:spcAft>
              <a:buClr>
                <a:schemeClr val="dk1"/>
              </a:buClr>
              <a:buSzPts val="2000"/>
              <a:buFont typeface="Sorts Mill Goudy"/>
              <a:buNone/>
            </a:pPr>
            <a:r>
              <a:rPr b="0" i="0" lang="pt-BR" sz="2000" u="none" cap="none" strike="noStrike">
                <a:solidFill>
                  <a:schemeClr val="dk1"/>
                </a:solidFill>
                <a:latin typeface="Sorts Mill Goudy"/>
                <a:ea typeface="Sorts Mill Goudy"/>
                <a:cs typeface="Sorts Mill Goudy"/>
                <a:sym typeface="Sorts Mill Goudy"/>
              </a:rPr>
              <a:t>Período do estágio e carga horária?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Sorts Mill Goudy"/>
              <a:ea typeface="Sorts Mill Goudy"/>
              <a:cs typeface="Sorts Mill Goudy"/>
              <a:sym typeface="Sorts Mill Goudy"/>
            </a:endParaRPr>
          </a:p>
          <a:p>
            <a:pPr indent="0" lvl="0" marL="0" marR="0" rtl="0" algn="just">
              <a:lnSpc>
                <a:spcPct val="100000"/>
              </a:lnSpc>
              <a:spcBef>
                <a:spcPts val="0"/>
              </a:spcBef>
              <a:spcAft>
                <a:spcPts val="0"/>
              </a:spcAft>
              <a:buClr>
                <a:schemeClr val="dk1"/>
              </a:buClr>
              <a:buSzPts val="2000"/>
              <a:buFont typeface="Sorts Mill Goudy"/>
              <a:buNone/>
            </a:pPr>
            <a:r>
              <a:rPr b="0" i="0" lang="pt-BR" sz="2000" u="none" cap="none" strike="noStrike">
                <a:solidFill>
                  <a:schemeClr val="dk1"/>
                </a:solidFill>
                <a:latin typeface="Sorts Mill Goudy"/>
                <a:ea typeface="Sorts Mill Goudy"/>
                <a:cs typeface="Sorts Mill Goudy"/>
                <a:sym typeface="Sorts Mill Goudy"/>
              </a:rPr>
              <a:t>Quais seus objetivos no estágio?</a:t>
            </a:r>
            <a:endParaRPr b="0" i="0" sz="1400" u="none" cap="none" strike="noStrike">
              <a:solidFill>
                <a:srgbClr val="000000"/>
              </a:solidFill>
              <a:latin typeface="Arial"/>
              <a:ea typeface="Arial"/>
              <a:cs typeface="Arial"/>
              <a:sym typeface="Arial"/>
            </a:endParaRPr>
          </a:p>
        </p:txBody>
      </p:sp>
      <p:cxnSp>
        <p:nvCxnSpPr>
          <p:cNvPr id="101" name="Google Shape;101;p14"/>
          <p:cNvCxnSpPr/>
          <p:nvPr/>
        </p:nvCxnSpPr>
        <p:spPr>
          <a:xfrm>
            <a:off x="263352" y="488382"/>
            <a:ext cx="11665296" cy="0"/>
          </a:xfrm>
          <a:prstGeom prst="straightConnector1">
            <a:avLst/>
          </a:prstGeom>
          <a:noFill/>
          <a:ln cap="flat" cmpd="sng" w="28575">
            <a:solidFill>
              <a:srgbClr val="418C21"/>
            </a:solidFill>
            <a:prstDash val="solid"/>
            <a:miter lim="800000"/>
            <a:headEnd len="sm" w="sm" type="none"/>
            <a:tailEnd len="sm" w="sm" type="none"/>
          </a:ln>
        </p:spPr>
      </p:cxnSp>
      <p:cxnSp>
        <p:nvCxnSpPr>
          <p:cNvPr id="102" name="Google Shape;102;p14"/>
          <p:cNvCxnSpPr/>
          <p:nvPr/>
        </p:nvCxnSpPr>
        <p:spPr>
          <a:xfrm>
            <a:off x="368431" y="6309320"/>
            <a:ext cx="2016224" cy="0"/>
          </a:xfrm>
          <a:prstGeom prst="straightConnector1">
            <a:avLst/>
          </a:prstGeom>
          <a:noFill/>
          <a:ln cap="flat" cmpd="sng" w="28575">
            <a:solidFill>
              <a:srgbClr val="418C21"/>
            </a:solidFill>
            <a:prstDash val="solid"/>
            <a:miter lim="800000"/>
            <a:headEnd len="sm" w="sm" type="none"/>
            <a:tailEnd len="sm" w="sm" type="none"/>
          </a:ln>
        </p:spPr>
      </p:cxnSp>
      <p:sp>
        <p:nvSpPr>
          <p:cNvPr id="103" name="Google Shape;103;p14"/>
          <p:cNvSpPr/>
          <p:nvPr/>
        </p:nvSpPr>
        <p:spPr>
          <a:xfrm>
            <a:off x="263352" y="6437303"/>
            <a:ext cx="7920880" cy="30777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400"/>
              <a:buFont typeface="Arial"/>
              <a:buNone/>
            </a:pPr>
            <a:r>
              <a:rPr b="1" i="0" lang="pt-BR" sz="1400" u="none" cap="none" strike="noStrike">
                <a:solidFill>
                  <a:srgbClr val="469B20"/>
                </a:solidFill>
                <a:latin typeface="Twentieth Century"/>
                <a:ea typeface="Twentieth Century"/>
                <a:cs typeface="Twentieth Century"/>
                <a:sym typeface="Twentieth Century"/>
              </a:rPr>
              <a:t>ESTÁGIO CURRICULAR OBRIGATÓRIO (ECO)</a:t>
            </a:r>
            <a:endParaRPr b="1" i="0" sz="1400" u="none" cap="none" strike="noStrike">
              <a:solidFill>
                <a:srgbClr val="FF0000"/>
              </a:solidFill>
              <a:latin typeface="Twentieth Century"/>
              <a:ea typeface="Twentieth Century"/>
              <a:cs typeface="Twentieth Century"/>
              <a:sym typeface="Twentieth Century"/>
            </a:endParaRPr>
          </a:p>
        </p:txBody>
      </p:sp>
      <p:cxnSp>
        <p:nvCxnSpPr>
          <p:cNvPr id="104" name="Google Shape;104;p14"/>
          <p:cNvCxnSpPr/>
          <p:nvPr/>
        </p:nvCxnSpPr>
        <p:spPr>
          <a:xfrm>
            <a:off x="4439816" y="2222866"/>
            <a:ext cx="2088232" cy="0"/>
          </a:xfrm>
          <a:prstGeom prst="straightConnector1">
            <a:avLst/>
          </a:prstGeom>
          <a:noFill/>
          <a:ln cap="flat" cmpd="sng" w="9525">
            <a:solidFill>
              <a:srgbClr val="FF0000"/>
            </a:solidFill>
            <a:prstDash val="solid"/>
            <a:miter lim="800000"/>
            <a:headEnd len="sm" w="sm" type="none"/>
            <a:tailEnd len="med" w="med" type="triangle"/>
          </a:ln>
        </p:spPr>
      </p:cxnSp>
      <p:sp>
        <p:nvSpPr>
          <p:cNvPr id="105" name="Google Shape;105;p14"/>
          <p:cNvSpPr txBox="1"/>
          <p:nvPr/>
        </p:nvSpPr>
        <p:spPr>
          <a:xfrm>
            <a:off x="6816080" y="945594"/>
            <a:ext cx="5112568" cy="206210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pt-BR" sz="3200" u="none" cap="none" strike="noStrike">
                <a:solidFill>
                  <a:srgbClr val="FF0000"/>
                </a:solidFill>
                <a:latin typeface="Calibri"/>
                <a:ea typeface="Calibri"/>
                <a:cs typeface="Calibri"/>
                <a:sym typeface="Calibri"/>
              </a:rPr>
              <a:t>CADA ALUNO DEVE PREENCHER DA SUA FORMA. PORÉM DEVEM CONSTAR AS INFO’S SOLICITADAS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idx="12" type="sldNum"/>
          </p:nvPr>
        </p:nvSpPr>
        <p:spPr>
          <a:xfrm>
            <a:off x="10805859" y="85350"/>
            <a:ext cx="112278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Twentieth Century"/>
              <a:buNone/>
            </a:pPr>
            <a:fld id="{00000000-1234-1234-1234-123412341234}" type="slidenum">
              <a:rPr b="1" lang="pt-BR" sz="1800">
                <a:solidFill>
                  <a:schemeClr val="dk1"/>
                </a:solidFill>
                <a:latin typeface="Twentieth Century"/>
                <a:ea typeface="Twentieth Century"/>
                <a:cs typeface="Twentieth Century"/>
                <a:sym typeface="Twentieth Century"/>
              </a:rPr>
              <a:t>‹#›</a:t>
            </a:fld>
            <a:endParaRPr b="1" sz="1800">
              <a:solidFill>
                <a:schemeClr val="dk1"/>
              </a:solidFill>
              <a:latin typeface="Twentieth Century"/>
              <a:ea typeface="Twentieth Century"/>
              <a:cs typeface="Twentieth Century"/>
              <a:sym typeface="Twentieth Century"/>
            </a:endParaRPr>
          </a:p>
        </p:txBody>
      </p:sp>
      <p:sp>
        <p:nvSpPr>
          <p:cNvPr id="113" name="Google Shape;113;p15"/>
          <p:cNvSpPr/>
          <p:nvPr/>
        </p:nvSpPr>
        <p:spPr>
          <a:xfrm>
            <a:off x="263352" y="81143"/>
            <a:ext cx="4176464"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69B20"/>
              </a:buClr>
              <a:buSzPts val="1800"/>
              <a:buFont typeface="Twentieth Century"/>
              <a:buNone/>
            </a:pPr>
            <a:r>
              <a:rPr b="1" i="0" lang="pt-BR" sz="1800" u="none" cap="none" strike="noStrike">
                <a:solidFill>
                  <a:srgbClr val="469B20"/>
                </a:solidFill>
                <a:latin typeface="Twentieth Century"/>
                <a:ea typeface="Twentieth Century"/>
                <a:cs typeface="Twentieth Century"/>
                <a:sym typeface="Twentieth Century"/>
              </a:rPr>
              <a:t>ATIVIDADES ACOMPANHADAS</a:t>
            </a:r>
            <a:endParaRPr b="0" i="0" sz="1800" u="none" cap="none" strike="noStrike">
              <a:solidFill>
                <a:srgbClr val="469B20"/>
              </a:solidFill>
              <a:latin typeface="Twentieth Century"/>
              <a:ea typeface="Twentieth Century"/>
              <a:cs typeface="Twentieth Century"/>
              <a:sym typeface="Twentieth Century"/>
            </a:endParaRPr>
          </a:p>
        </p:txBody>
      </p:sp>
      <p:sp>
        <p:nvSpPr>
          <p:cNvPr id="114" name="Google Shape;114;p15"/>
          <p:cNvSpPr txBox="1"/>
          <p:nvPr/>
        </p:nvSpPr>
        <p:spPr>
          <a:xfrm>
            <a:off x="263352" y="616365"/>
            <a:ext cx="7128792" cy="4000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Sorts Mill Goudy"/>
              <a:buNone/>
            </a:pPr>
            <a:r>
              <a:rPr b="0" i="0" lang="pt-BR" sz="2000" u="none" cap="none" strike="noStrike">
                <a:solidFill>
                  <a:schemeClr val="dk1"/>
                </a:solidFill>
                <a:latin typeface="Sorts Mill Goudy"/>
                <a:ea typeface="Sorts Mill Goudy"/>
                <a:cs typeface="Sorts Mill Goudy"/>
                <a:sym typeface="Sorts Mill Goudy"/>
              </a:rPr>
              <a:t>Liste as atividades que você realizava?</a:t>
            </a:r>
            <a:endParaRPr b="0" i="0" sz="2000" u="none" cap="none" strike="noStrike">
              <a:solidFill>
                <a:schemeClr val="dk1"/>
              </a:solidFill>
              <a:latin typeface="Sorts Mill Goudy"/>
              <a:ea typeface="Sorts Mill Goudy"/>
              <a:cs typeface="Sorts Mill Goudy"/>
              <a:sym typeface="Sorts Mill Goudy"/>
            </a:endParaRPr>
          </a:p>
        </p:txBody>
      </p:sp>
      <p:cxnSp>
        <p:nvCxnSpPr>
          <p:cNvPr id="115" name="Google Shape;115;p15"/>
          <p:cNvCxnSpPr/>
          <p:nvPr/>
        </p:nvCxnSpPr>
        <p:spPr>
          <a:xfrm>
            <a:off x="263352" y="488382"/>
            <a:ext cx="11665296" cy="0"/>
          </a:xfrm>
          <a:prstGeom prst="straightConnector1">
            <a:avLst/>
          </a:prstGeom>
          <a:noFill/>
          <a:ln cap="flat" cmpd="sng" w="28575">
            <a:solidFill>
              <a:srgbClr val="418C21"/>
            </a:solidFill>
            <a:prstDash val="solid"/>
            <a:miter lim="800000"/>
            <a:headEnd len="sm" w="sm" type="none"/>
            <a:tailEnd len="sm" w="sm" type="none"/>
          </a:ln>
        </p:spPr>
      </p:cxnSp>
      <p:cxnSp>
        <p:nvCxnSpPr>
          <p:cNvPr id="116" name="Google Shape;116;p15"/>
          <p:cNvCxnSpPr/>
          <p:nvPr/>
        </p:nvCxnSpPr>
        <p:spPr>
          <a:xfrm>
            <a:off x="368431" y="6309320"/>
            <a:ext cx="2016224" cy="0"/>
          </a:xfrm>
          <a:prstGeom prst="straightConnector1">
            <a:avLst/>
          </a:prstGeom>
          <a:noFill/>
          <a:ln cap="flat" cmpd="sng" w="28575">
            <a:solidFill>
              <a:srgbClr val="418C21"/>
            </a:solidFill>
            <a:prstDash val="solid"/>
            <a:miter lim="800000"/>
            <a:headEnd len="sm" w="sm" type="none"/>
            <a:tailEnd len="sm" w="sm" type="none"/>
          </a:ln>
        </p:spPr>
      </p:cxnSp>
      <p:sp>
        <p:nvSpPr>
          <p:cNvPr id="117" name="Google Shape;117;p15"/>
          <p:cNvSpPr/>
          <p:nvPr/>
        </p:nvSpPr>
        <p:spPr>
          <a:xfrm>
            <a:off x="263352" y="6437303"/>
            <a:ext cx="7920880" cy="30777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400"/>
              <a:buFont typeface="Arial"/>
              <a:buNone/>
            </a:pPr>
            <a:r>
              <a:rPr b="1" i="0" lang="pt-BR" sz="1400" u="none" cap="none" strike="noStrike">
                <a:solidFill>
                  <a:srgbClr val="469B20"/>
                </a:solidFill>
                <a:latin typeface="Twentieth Century"/>
                <a:ea typeface="Twentieth Century"/>
                <a:cs typeface="Twentieth Century"/>
                <a:sym typeface="Twentieth Century"/>
              </a:rPr>
              <a:t>ESTÁGIO CURRICULAR OBRIGATÓRIO (ECO)</a:t>
            </a:r>
            <a:endParaRPr b="1" i="0" sz="1400" u="none" cap="none" strike="noStrike">
              <a:solidFill>
                <a:srgbClr val="FF0000"/>
              </a:solidFill>
              <a:latin typeface="Twentieth Century"/>
              <a:ea typeface="Twentieth Century"/>
              <a:cs typeface="Twentieth Century"/>
              <a:sym typeface="Twentieth Century"/>
            </a:endParaRPr>
          </a:p>
        </p:txBody>
      </p:sp>
      <p:cxnSp>
        <p:nvCxnSpPr>
          <p:cNvPr id="118" name="Google Shape;118;p15"/>
          <p:cNvCxnSpPr/>
          <p:nvPr/>
        </p:nvCxnSpPr>
        <p:spPr>
          <a:xfrm>
            <a:off x="3395700" y="2060848"/>
            <a:ext cx="2088232" cy="0"/>
          </a:xfrm>
          <a:prstGeom prst="straightConnector1">
            <a:avLst/>
          </a:prstGeom>
          <a:noFill/>
          <a:ln cap="flat" cmpd="sng" w="9525">
            <a:solidFill>
              <a:srgbClr val="FF0000"/>
            </a:solidFill>
            <a:prstDash val="solid"/>
            <a:miter lim="800000"/>
            <a:headEnd len="sm" w="sm" type="none"/>
            <a:tailEnd len="med" w="med" type="triangle"/>
          </a:ln>
        </p:spPr>
      </p:cxnSp>
      <p:sp>
        <p:nvSpPr>
          <p:cNvPr id="119" name="Google Shape;119;p15"/>
          <p:cNvSpPr txBox="1"/>
          <p:nvPr/>
        </p:nvSpPr>
        <p:spPr>
          <a:xfrm>
            <a:off x="5951984" y="996309"/>
            <a:ext cx="5976662"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pt-BR" sz="3200" u="none" cap="none" strike="noStrike">
                <a:solidFill>
                  <a:srgbClr val="FF0000"/>
                </a:solidFill>
                <a:latin typeface="Calibri"/>
                <a:ea typeface="Calibri"/>
                <a:cs typeface="Calibri"/>
                <a:sym typeface="Calibri"/>
              </a:rPr>
              <a:t>CADA ALUNO DEVE PREENCHER DA SUA FORMA. PORÉM DEVEM CONSTAR AS INFO’S SOLICITADAS</a:t>
            </a:r>
            <a:endParaRPr b="0" i="0" sz="1400" u="none" cap="none" strike="noStrike">
              <a:solidFill>
                <a:srgbClr val="000000"/>
              </a:solidFill>
              <a:latin typeface="Arial"/>
              <a:ea typeface="Arial"/>
              <a:cs typeface="Arial"/>
              <a:sym typeface="Arial"/>
            </a:endParaRPr>
          </a:p>
        </p:txBody>
      </p:sp>
      <p:sp>
        <p:nvSpPr>
          <p:cNvPr id="120" name="Google Shape;120;p15"/>
          <p:cNvSpPr txBox="1"/>
          <p:nvPr/>
        </p:nvSpPr>
        <p:spPr>
          <a:xfrm>
            <a:off x="5951984" y="3570261"/>
            <a:ext cx="5976663" cy="255454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pt-BR" sz="3200" u="none" cap="none" strike="noStrike">
                <a:solidFill>
                  <a:srgbClr val="FF0000"/>
                </a:solidFill>
                <a:latin typeface="Calibri"/>
                <a:ea typeface="Calibri"/>
                <a:cs typeface="Calibri"/>
                <a:sym typeface="Calibri"/>
              </a:rPr>
              <a:t>É PERMITIDO DUPLICAR ESTE SLIDE COM APRESENTAÇÃO DE FOTOS DO SEU ESTÁGIO. É RECOMENDÁVEL QUE APRESENTE-SE FOTOS.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6"/>
          <p:cNvSpPr txBox="1"/>
          <p:nvPr>
            <p:ph idx="12" type="sldNum"/>
          </p:nvPr>
        </p:nvSpPr>
        <p:spPr>
          <a:xfrm>
            <a:off x="10805859" y="85350"/>
            <a:ext cx="112278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Twentieth Century"/>
              <a:buNone/>
            </a:pPr>
            <a:fld id="{00000000-1234-1234-1234-123412341234}" type="slidenum">
              <a:rPr b="1" lang="pt-BR" sz="1800">
                <a:solidFill>
                  <a:schemeClr val="dk1"/>
                </a:solidFill>
                <a:latin typeface="Twentieth Century"/>
                <a:ea typeface="Twentieth Century"/>
                <a:cs typeface="Twentieth Century"/>
                <a:sym typeface="Twentieth Century"/>
              </a:rPr>
              <a:t>‹#›</a:t>
            </a:fld>
            <a:endParaRPr b="1" sz="1800">
              <a:solidFill>
                <a:schemeClr val="dk1"/>
              </a:solidFill>
              <a:latin typeface="Twentieth Century"/>
              <a:ea typeface="Twentieth Century"/>
              <a:cs typeface="Twentieth Century"/>
              <a:sym typeface="Twentieth Century"/>
            </a:endParaRPr>
          </a:p>
        </p:txBody>
      </p:sp>
      <p:sp>
        <p:nvSpPr>
          <p:cNvPr id="128" name="Google Shape;128;p16"/>
          <p:cNvSpPr/>
          <p:nvPr/>
        </p:nvSpPr>
        <p:spPr>
          <a:xfrm>
            <a:off x="263352" y="81143"/>
            <a:ext cx="4176464" cy="3692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69B20"/>
              </a:buClr>
              <a:buSzPts val="1800"/>
              <a:buFont typeface="Twentieth Century"/>
              <a:buNone/>
            </a:pPr>
            <a:r>
              <a:rPr b="1" i="0" lang="pt-BR" sz="1800" u="none" cap="none" strike="noStrike">
                <a:solidFill>
                  <a:srgbClr val="469B20"/>
                </a:solidFill>
                <a:latin typeface="Twentieth Century"/>
                <a:ea typeface="Twentieth Century"/>
                <a:cs typeface="Twentieth Century"/>
                <a:sym typeface="Twentieth Century"/>
              </a:rPr>
              <a:t>ANÁLISE CRÍTICA DO ESTÁGIO</a:t>
            </a:r>
            <a:endParaRPr b="0" i="0" sz="1800" u="none" cap="none" strike="noStrike">
              <a:solidFill>
                <a:srgbClr val="469B20"/>
              </a:solidFill>
              <a:latin typeface="Twentieth Century"/>
              <a:ea typeface="Twentieth Century"/>
              <a:cs typeface="Twentieth Century"/>
              <a:sym typeface="Twentieth Century"/>
            </a:endParaRPr>
          </a:p>
        </p:txBody>
      </p:sp>
      <p:sp>
        <p:nvSpPr>
          <p:cNvPr id="129" name="Google Shape;129;p16"/>
          <p:cNvSpPr txBox="1"/>
          <p:nvPr/>
        </p:nvSpPr>
        <p:spPr>
          <a:xfrm>
            <a:off x="263352" y="616365"/>
            <a:ext cx="7128792" cy="101562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Sorts Mill Goudy"/>
              <a:buNone/>
            </a:pPr>
            <a:r>
              <a:rPr b="0" i="0" lang="pt-BR" sz="2000" u="none" cap="none" strike="noStrike">
                <a:solidFill>
                  <a:schemeClr val="dk1"/>
                </a:solidFill>
                <a:latin typeface="Sorts Mill Goudy"/>
                <a:ea typeface="Sorts Mill Goudy"/>
                <a:cs typeface="Sorts Mill Goudy"/>
                <a:sym typeface="Sorts Mill Goudy"/>
              </a:rPr>
              <a:t>Pontos passíveis de melhoria?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Sorts Mill Goudy"/>
              <a:ea typeface="Sorts Mill Goudy"/>
              <a:cs typeface="Sorts Mill Goudy"/>
              <a:sym typeface="Sorts Mill Goudy"/>
            </a:endParaRPr>
          </a:p>
          <a:p>
            <a:pPr indent="0" lvl="0" marL="0" marR="0" rtl="0" algn="just">
              <a:lnSpc>
                <a:spcPct val="100000"/>
              </a:lnSpc>
              <a:spcBef>
                <a:spcPts val="0"/>
              </a:spcBef>
              <a:spcAft>
                <a:spcPts val="0"/>
              </a:spcAft>
              <a:buClr>
                <a:schemeClr val="dk1"/>
              </a:buClr>
              <a:buSzPts val="2000"/>
              <a:buFont typeface="Sorts Mill Goudy"/>
              <a:buNone/>
            </a:pPr>
            <a:r>
              <a:rPr b="0" i="0" lang="pt-BR" sz="2000" u="none" cap="none" strike="noStrike">
                <a:solidFill>
                  <a:schemeClr val="dk1"/>
                </a:solidFill>
                <a:latin typeface="Sorts Mill Goudy"/>
                <a:ea typeface="Sorts Mill Goudy"/>
                <a:cs typeface="Sorts Mill Goudy"/>
                <a:sym typeface="Sorts Mill Goudy"/>
              </a:rPr>
              <a:t>Pontos acima do esperado?</a:t>
            </a:r>
            <a:endParaRPr b="0" i="0" sz="1400" u="none" cap="none" strike="noStrike">
              <a:solidFill>
                <a:srgbClr val="000000"/>
              </a:solidFill>
              <a:latin typeface="Arial"/>
              <a:ea typeface="Arial"/>
              <a:cs typeface="Arial"/>
              <a:sym typeface="Arial"/>
            </a:endParaRPr>
          </a:p>
        </p:txBody>
      </p:sp>
      <p:cxnSp>
        <p:nvCxnSpPr>
          <p:cNvPr id="130" name="Google Shape;130;p16"/>
          <p:cNvCxnSpPr/>
          <p:nvPr/>
        </p:nvCxnSpPr>
        <p:spPr>
          <a:xfrm>
            <a:off x="263352" y="488382"/>
            <a:ext cx="11665296" cy="0"/>
          </a:xfrm>
          <a:prstGeom prst="straightConnector1">
            <a:avLst/>
          </a:prstGeom>
          <a:noFill/>
          <a:ln cap="flat" cmpd="sng" w="28575">
            <a:solidFill>
              <a:srgbClr val="418C21"/>
            </a:solidFill>
            <a:prstDash val="solid"/>
            <a:miter lim="800000"/>
            <a:headEnd len="sm" w="sm" type="none"/>
            <a:tailEnd len="sm" w="sm" type="none"/>
          </a:ln>
        </p:spPr>
      </p:cxnSp>
      <p:cxnSp>
        <p:nvCxnSpPr>
          <p:cNvPr id="131" name="Google Shape;131;p16"/>
          <p:cNvCxnSpPr/>
          <p:nvPr/>
        </p:nvCxnSpPr>
        <p:spPr>
          <a:xfrm>
            <a:off x="368431" y="6309320"/>
            <a:ext cx="2016224" cy="0"/>
          </a:xfrm>
          <a:prstGeom prst="straightConnector1">
            <a:avLst/>
          </a:prstGeom>
          <a:noFill/>
          <a:ln cap="flat" cmpd="sng" w="28575">
            <a:solidFill>
              <a:srgbClr val="418C21"/>
            </a:solidFill>
            <a:prstDash val="solid"/>
            <a:miter lim="800000"/>
            <a:headEnd len="sm" w="sm" type="none"/>
            <a:tailEnd len="sm" w="sm" type="none"/>
          </a:ln>
        </p:spPr>
      </p:cxnSp>
      <p:sp>
        <p:nvSpPr>
          <p:cNvPr id="132" name="Google Shape;132;p16"/>
          <p:cNvSpPr/>
          <p:nvPr/>
        </p:nvSpPr>
        <p:spPr>
          <a:xfrm>
            <a:off x="263352" y="6437303"/>
            <a:ext cx="7920880" cy="30777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400"/>
              <a:buFont typeface="Arial"/>
              <a:buNone/>
            </a:pPr>
            <a:r>
              <a:rPr b="1" i="0" lang="pt-BR" sz="1400" u="none" cap="none" strike="noStrike">
                <a:solidFill>
                  <a:srgbClr val="469B20"/>
                </a:solidFill>
                <a:latin typeface="Twentieth Century"/>
                <a:ea typeface="Twentieth Century"/>
                <a:cs typeface="Twentieth Century"/>
                <a:sym typeface="Twentieth Century"/>
              </a:rPr>
              <a:t>ESTÁGIO CURRICULAR OBRIGATÓRIO (ECO)</a:t>
            </a:r>
            <a:endParaRPr b="1" i="0" sz="1400" u="none" cap="none" strike="noStrike">
              <a:solidFill>
                <a:srgbClr val="FF0000"/>
              </a:solidFill>
              <a:latin typeface="Twentieth Century"/>
              <a:ea typeface="Twentieth Century"/>
              <a:cs typeface="Twentieth Century"/>
              <a:sym typeface="Twentieth Century"/>
            </a:endParaRPr>
          </a:p>
        </p:txBody>
      </p:sp>
      <p:cxnSp>
        <p:nvCxnSpPr>
          <p:cNvPr id="133" name="Google Shape;133;p16"/>
          <p:cNvCxnSpPr/>
          <p:nvPr/>
        </p:nvCxnSpPr>
        <p:spPr>
          <a:xfrm>
            <a:off x="3719736" y="1340768"/>
            <a:ext cx="2088232" cy="0"/>
          </a:xfrm>
          <a:prstGeom prst="straightConnector1">
            <a:avLst/>
          </a:prstGeom>
          <a:noFill/>
          <a:ln cap="flat" cmpd="sng" w="9525">
            <a:solidFill>
              <a:srgbClr val="FF0000"/>
            </a:solidFill>
            <a:prstDash val="solid"/>
            <a:miter lim="800000"/>
            <a:headEnd len="sm" w="sm" type="none"/>
            <a:tailEnd len="med" w="med" type="triangle"/>
          </a:ln>
        </p:spPr>
      </p:cxnSp>
      <p:sp>
        <p:nvSpPr>
          <p:cNvPr id="134" name="Google Shape;134;p16"/>
          <p:cNvSpPr txBox="1"/>
          <p:nvPr/>
        </p:nvSpPr>
        <p:spPr>
          <a:xfrm>
            <a:off x="5951984" y="996309"/>
            <a:ext cx="5976664" cy="594008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pt-BR" sz="3200" u="none" cap="none" strike="noStrike">
                <a:solidFill>
                  <a:srgbClr val="FF0000"/>
                </a:solidFill>
                <a:latin typeface="Calibri"/>
                <a:ea typeface="Calibri"/>
                <a:cs typeface="Calibri"/>
                <a:sym typeface="Calibri"/>
              </a:rPr>
              <a:t>CADA ALUNO DEVE PREENCHER DA SUA FORMA. PORÉM DEVEM CONSTAR AS INFO’S SOLICITADAS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rgbClr val="FF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pt-BR" sz="3200" u="none" cap="none" strike="noStrike">
                <a:solidFill>
                  <a:srgbClr val="FF0000"/>
                </a:solidFill>
                <a:latin typeface="Calibri"/>
                <a:ea typeface="Calibri"/>
                <a:cs typeface="Calibri"/>
                <a:sym typeface="Calibri"/>
              </a:rPr>
              <a:t>Exemplo: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ts val="2000"/>
              <a:buFont typeface="Arial"/>
              <a:buNone/>
            </a:pPr>
            <a:r>
              <a:rPr b="1" i="0" lang="pt-BR" sz="2000" u="none" cap="none" strike="noStrike">
                <a:solidFill>
                  <a:srgbClr val="FF0000"/>
                </a:solidFill>
                <a:latin typeface="Arial"/>
                <a:ea typeface="Arial"/>
                <a:cs typeface="Arial"/>
                <a:sym typeface="Arial"/>
              </a:rPr>
              <a:t>Passíveis de melhoria</a:t>
            </a:r>
            <a:endParaRPr b="0" i="0" sz="2000" u="none" cap="none" strike="noStrike">
              <a:solidFill>
                <a:srgbClr val="FF0000"/>
              </a:solidFill>
              <a:latin typeface="Calibri"/>
              <a:ea typeface="Calibri"/>
              <a:cs typeface="Calibri"/>
              <a:sym typeface="Calibri"/>
            </a:endParaRPr>
          </a:p>
          <a:p>
            <a:pPr indent="-514350" lvl="0" marL="514350" marR="0" rtl="0" algn="just">
              <a:lnSpc>
                <a:spcPct val="100000"/>
              </a:lnSpc>
              <a:spcBef>
                <a:spcPts val="0"/>
              </a:spcBef>
              <a:spcAft>
                <a:spcPts val="0"/>
              </a:spcAft>
              <a:buClr>
                <a:schemeClr val="dk1"/>
              </a:buClr>
              <a:buSzPts val="3400"/>
              <a:buFont typeface="Arial"/>
              <a:buAutoNum type="arabicPeriod"/>
            </a:pPr>
            <a:r>
              <a:rPr b="0" i="0" lang="pt-BR" sz="2000" u="none" cap="none" strike="noStrike">
                <a:solidFill>
                  <a:srgbClr val="FF0000"/>
                </a:solidFill>
                <a:latin typeface="Arial"/>
                <a:ea typeface="Arial"/>
                <a:cs typeface="Arial"/>
                <a:sym typeface="Arial"/>
              </a:rPr>
              <a:t>Auxílio no controle de qualidade de serviços;</a:t>
            </a:r>
            <a:endParaRPr b="0" i="0" sz="2000" u="none" cap="none" strike="noStrike">
              <a:solidFill>
                <a:srgbClr val="FF0000"/>
              </a:solidFill>
              <a:latin typeface="Calibri"/>
              <a:ea typeface="Calibri"/>
              <a:cs typeface="Calibri"/>
              <a:sym typeface="Calibri"/>
            </a:endParaRPr>
          </a:p>
          <a:p>
            <a:pPr indent="457200" lvl="0" marL="0" marR="0" rtl="0" algn="just">
              <a:lnSpc>
                <a:spcPct val="100000"/>
              </a:lnSpc>
              <a:spcBef>
                <a:spcPts val="0"/>
              </a:spcBef>
              <a:spcAft>
                <a:spcPts val="0"/>
              </a:spcAft>
              <a:buClr>
                <a:srgbClr val="FF0000"/>
              </a:buClr>
              <a:buSzPts val="2000"/>
              <a:buFont typeface="Arial"/>
              <a:buNone/>
            </a:pPr>
            <a:r>
              <a:rPr b="0" i="0" lang="pt-BR" sz="2000" u="none" cap="none" strike="noStrike">
                <a:solidFill>
                  <a:srgbClr val="FF0000"/>
                </a:solidFill>
                <a:latin typeface="Arial"/>
                <a:ea typeface="Arial"/>
                <a:cs typeface="Arial"/>
                <a:sym typeface="Arial"/>
              </a:rPr>
              <a:t>A ineficiência no gerenciamento da qualidade causa problemas de logística, ocasionando demoras, perda de desempenho e gastos desnecessários. Tudo isso impacta na satisfação dos clientes, reduzindo assim a qualidade da obra como um todo.</a:t>
            </a:r>
            <a:endParaRPr b="0" i="0" sz="2000" u="none" cap="none" strike="noStrike">
              <a:solidFill>
                <a:srgbClr val="FF0000"/>
              </a:solidFill>
              <a:latin typeface="Calibri"/>
              <a:ea typeface="Calibri"/>
              <a:cs typeface="Calibri"/>
              <a:sym typeface="Calibri"/>
            </a:endParaRPr>
          </a:p>
          <a:p>
            <a:pPr indent="457200" lvl="0" marL="0" marR="0" rtl="0" algn="just">
              <a:lnSpc>
                <a:spcPct val="100000"/>
              </a:lnSpc>
              <a:spcBef>
                <a:spcPts val="0"/>
              </a:spcBef>
              <a:spcAft>
                <a:spcPts val="0"/>
              </a:spcAft>
              <a:buClr>
                <a:schemeClr val="dk1"/>
              </a:buClr>
              <a:buSzPts val="2000"/>
              <a:buFont typeface="Calibri"/>
              <a:buNone/>
            </a:pPr>
            <a:r>
              <a:t/>
            </a:r>
            <a:endParaRPr b="0" i="0" sz="2000" u="none" cap="none" strike="noStrike">
              <a:solidFill>
                <a:srgbClr val="FF0000"/>
              </a:solidFill>
              <a:latin typeface="Arial"/>
              <a:ea typeface="Arial"/>
              <a:cs typeface="Arial"/>
              <a:sym typeface="Arial"/>
            </a:endParaRPr>
          </a:p>
          <a:p>
            <a:pPr indent="457200" lvl="0" marL="0" marR="0" rtl="0" algn="ctr">
              <a:lnSpc>
                <a:spcPct val="100000"/>
              </a:lnSpc>
              <a:spcBef>
                <a:spcPts val="0"/>
              </a:spcBef>
              <a:spcAft>
                <a:spcPts val="0"/>
              </a:spcAft>
              <a:buClr>
                <a:srgbClr val="FF0000"/>
              </a:buClr>
              <a:buSzPts val="2000"/>
              <a:buFont typeface="Arial"/>
              <a:buNone/>
            </a:pPr>
            <a:r>
              <a:rPr b="1" i="0" lang="pt-BR" sz="2000" u="none" cap="none" strike="noStrike">
                <a:solidFill>
                  <a:srgbClr val="FF0000"/>
                </a:solidFill>
                <a:latin typeface="Arial"/>
                <a:ea typeface="Arial"/>
                <a:cs typeface="Arial"/>
                <a:sym typeface="Arial"/>
              </a:rPr>
              <a:t>Acima do espera</a:t>
            </a:r>
            <a:endParaRPr b="0" i="0" sz="2000" u="none" cap="none" strike="noStrike">
              <a:solidFill>
                <a:srgbClr val="FF0000"/>
              </a:solidFill>
              <a:latin typeface="Calibri"/>
              <a:ea typeface="Calibri"/>
              <a:cs typeface="Calibri"/>
              <a:sym typeface="Calibri"/>
            </a:endParaRPr>
          </a:p>
          <a:p>
            <a:pPr indent="-514350" lvl="0" marL="514350" marR="0" rtl="0" algn="just">
              <a:lnSpc>
                <a:spcPct val="100000"/>
              </a:lnSpc>
              <a:spcBef>
                <a:spcPts val="0"/>
              </a:spcBef>
              <a:spcAft>
                <a:spcPts val="0"/>
              </a:spcAft>
              <a:buClr>
                <a:schemeClr val="dk1"/>
              </a:buClr>
              <a:buSzPts val="3400"/>
              <a:buFont typeface="Arial"/>
              <a:buAutoNum type="arabicPeriod"/>
            </a:pPr>
            <a:r>
              <a:rPr b="0" i="0" lang="pt-BR" sz="2000" u="none" cap="none" strike="noStrike">
                <a:solidFill>
                  <a:srgbClr val="FF0000"/>
                </a:solidFill>
                <a:latin typeface="Arial"/>
                <a:ea typeface="Arial"/>
                <a:cs typeface="Arial"/>
                <a:sym typeface="Arial"/>
              </a:rPr>
              <a:t>Auxílio na gestão de projetos de engenharia;</a:t>
            </a:r>
            <a:endParaRPr b="0" i="0" sz="2000" u="none" cap="none" strike="noStrike">
              <a:solidFill>
                <a:srgbClr val="FF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idx="12" type="sldNum"/>
          </p:nvPr>
        </p:nvSpPr>
        <p:spPr>
          <a:xfrm>
            <a:off x="10805859" y="85350"/>
            <a:ext cx="112278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Twentieth Century"/>
              <a:buNone/>
            </a:pPr>
            <a:fld id="{00000000-1234-1234-1234-123412341234}" type="slidenum">
              <a:rPr b="1" lang="pt-BR" sz="1800">
                <a:solidFill>
                  <a:schemeClr val="dk1"/>
                </a:solidFill>
                <a:latin typeface="Twentieth Century"/>
                <a:ea typeface="Twentieth Century"/>
                <a:cs typeface="Twentieth Century"/>
                <a:sym typeface="Twentieth Century"/>
              </a:rPr>
              <a:t>‹#›</a:t>
            </a:fld>
            <a:endParaRPr b="1" sz="1800">
              <a:solidFill>
                <a:schemeClr val="dk1"/>
              </a:solidFill>
              <a:latin typeface="Twentieth Century"/>
              <a:ea typeface="Twentieth Century"/>
              <a:cs typeface="Twentieth Century"/>
              <a:sym typeface="Twentieth Century"/>
            </a:endParaRPr>
          </a:p>
        </p:txBody>
      </p:sp>
      <p:sp>
        <p:nvSpPr>
          <p:cNvPr id="142" name="Google Shape;142;p17"/>
          <p:cNvSpPr/>
          <p:nvPr/>
        </p:nvSpPr>
        <p:spPr>
          <a:xfrm>
            <a:off x="263352" y="81143"/>
            <a:ext cx="4176464" cy="3692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69B20"/>
              </a:buClr>
              <a:buSzPts val="1800"/>
              <a:buFont typeface="Twentieth Century"/>
              <a:buNone/>
            </a:pPr>
            <a:r>
              <a:rPr b="1" i="0" lang="pt-BR" sz="1800" u="none" cap="none" strike="noStrike">
                <a:solidFill>
                  <a:srgbClr val="469B20"/>
                </a:solidFill>
                <a:latin typeface="Twentieth Century"/>
                <a:ea typeface="Twentieth Century"/>
                <a:cs typeface="Twentieth Century"/>
                <a:sym typeface="Twentieth Century"/>
              </a:rPr>
              <a:t>CONCLUSÕES</a:t>
            </a:r>
            <a:endParaRPr b="0" i="0" sz="1800" u="none" cap="none" strike="noStrike">
              <a:solidFill>
                <a:srgbClr val="469B20"/>
              </a:solidFill>
              <a:latin typeface="Twentieth Century"/>
              <a:ea typeface="Twentieth Century"/>
              <a:cs typeface="Twentieth Century"/>
              <a:sym typeface="Twentieth Century"/>
            </a:endParaRPr>
          </a:p>
        </p:txBody>
      </p:sp>
      <p:sp>
        <p:nvSpPr>
          <p:cNvPr id="143" name="Google Shape;143;p17"/>
          <p:cNvSpPr txBox="1"/>
          <p:nvPr/>
        </p:nvSpPr>
        <p:spPr>
          <a:xfrm>
            <a:off x="263352" y="616365"/>
            <a:ext cx="7128792" cy="4000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Sorts Mill Goudy"/>
              <a:buNone/>
            </a:pPr>
            <a:r>
              <a:rPr b="0" i="0" lang="pt-BR" sz="2000" u="none" cap="none" strike="noStrike">
                <a:solidFill>
                  <a:schemeClr val="dk1"/>
                </a:solidFill>
                <a:latin typeface="Sorts Mill Goudy"/>
                <a:ea typeface="Sorts Mill Goudy"/>
                <a:cs typeface="Sorts Mill Goudy"/>
                <a:sym typeface="Sorts Mill Goudy"/>
              </a:rPr>
              <a:t>Qual a sua conclusão??</a:t>
            </a:r>
            <a:endParaRPr b="0" i="0" sz="1400" u="none" cap="none" strike="noStrike">
              <a:solidFill>
                <a:srgbClr val="000000"/>
              </a:solidFill>
              <a:latin typeface="Arial"/>
              <a:ea typeface="Arial"/>
              <a:cs typeface="Arial"/>
              <a:sym typeface="Arial"/>
            </a:endParaRPr>
          </a:p>
        </p:txBody>
      </p:sp>
      <p:cxnSp>
        <p:nvCxnSpPr>
          <p:cNvPr id="144" name="Google Shape;144;p17"/>
          <p:cNvCxnSpPr/>
          <p:nvPr/>
        </p:nvCxnSpPr>
        <p:spPr>
          <a:xfrm>
            <a:off x="263352" y="488382"/>
            <a:ext cx="11665296" cy="0"/>
          </a:xfrm>
          <a:prstGeom prst="straightConnector1">
            <a:avLst/>
          </a:prstGeom>
          <a:noFill/>
          <a:ln cap="flat" cmpd="sng" w="28575">
            <a:solidFill>
              <a:srgbClr val="418C21"/>
            </a:solidFill>
            <a:prstDash val="solid"/>
            <a:miter lim="800000"/>
            <a:headEnd len="sm" w="sm" type="none"/>
            <a:tailEnd len="sm" w="sm" type="none"/>
          </a:ln>
        </p:spPr>
      </p:cxnSp>
      <p:cxnSp>
        <p:nvCxnSpPr>
          <p:cNvPr id="145" name="Google Shape;145;p17"/>
          <p:cNvCxnSpPr/>
          <p:nvPr/>
        </p:nvCxnSpPr>
        <p:spPr>
          <a:xfrm>
            <a:off x="368431" y="6309320"/>
            <a:ext cx="2016224" cy="0"/>
          </a:xfrm>
          <a:prstGeom prst="straightConnector1">
            <a:avLst/>
          </a:prstGeom>
          <a:noFill/>
          <a:ln cap="flat" cmpd="sng" w="28575">
            <a:solidFill>
              <a:srgbClr val="418C21"/>
            </a:solidFill>
            <a:prstDash val="solid"/>
            <a:miter lim="800000"/>
            <a:headEnd len="sm" w="sm" type="none"/>
            <a:tailEnd len="sm" w="sm" type="none"/>
          </a:ln>
        </p:spPr>
      </p:cxnSp>
      <p:sp>
        <p:nvSpPr>
          <p:cNvPr id="146" name="Google Shape;146;p17"/>
          <p:cNvSpPr/>
          <p:nvPr/>
        </p:nvSpPr>
        <p:spPr>
          <a:xfrm>
            <a:off x="263352" y="6437303"/>
            <a:ext cx="7920880" cy="30777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400"/>
              <a:buFont typeface="Arial"/>
              <a:buNone/>
            </a:pPr>
            <a:r>
              <a:rPr b="1" i="0" lang="pt-BR" sz="1400" u="none" cap="none" strike="noStrike">
                <a:solidFill>
                  <a:srgbClr val="469B20"/>
                </a:solidFill>
                <a:latin typeface="Twentieth Century"/>
                <a:ea typeface="Twentieth Century"/>
                <a:cs typeface="Twentieth Century"/>
                <a:sym typeface="Twentieth Century"/>
              </a:rPr>
              <a:t>ESTÁGIO CURRICULAR OBRIGATÓRIO (ECO)</a:t>
            </a:r>
            <a:endParaRPr b="1" i="0" sz="1400" u="none" cap="none" strike="noStrike">
              <a:solidFill>
                <a:srgbClr val="FF0000"/>
              </a:solidFill>
              <a:latin typeface="Twentieth Century"/>
              <a:ea typeface="Twentieth Century"/>
              <a:cs typeface="Twentieth Century"/>
              <a:sym typeface="Twentieth Century"/>
            </a:endParaRPr>
          </a:p>
        </p:txBody>
      </p:sp>
      <p:cxnSp>
        <p:nvCxnSpPr>
          <p:cNvPr id="147" name="Google Shape;147;p17"/>
          <p:cNvCxnSpPr/>
          <p:nvPr/>
        </p:nvCxnSpPr>
        <p:spPr>
          <a:xfrm>
            <a:off x="3647728" y="1016434"/>
            <a:ext cx="2088232" cy="0"/>
          </a:xfrm>
          <a:prstGeom prst="straightConnector1">
            <a:avLst/>
          </a:prstGeom>
          <a:noFill/>
          <a:ln cap="flat" cmpd="sng" w="9525">
            <a:solidFill>
              <a:srgbClr val="FF0000"/>
            </a:solidFill>
            <a:prstDash val="solid"/>
            <a:miter lim="800000"/>
            <a:headEnd len="sm" w="sm" type="none"/>
            <a:tailEnd len="med" w="med" type="triangle"/>
          </a:ln>
        </p:spPr>
      </p:cxnSp>
      <p:sp>
        <p:nvSpPr>
          <p:cNvPr id="148" name="Google Shape;148;p17"/>
          <p:cNvSpPr txBox="1"/>
          <p:nvPr/>
        </p:nvSpPr>
        <p:spPr>
          <a:xfrm>
            <a:off x="5735950" y="58050"/>
            <a:ext cx="5070000" cy="6741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pt-BR" sz="2600" u="none" cap="none" strike="noStrike">
                <a:solidFill>
                  <a:srgbClr val="FF0000"/>
                </a:solidFill>
                <a:latin typeface="Calibri"/>
                <a:ea typeface="Calibri"/>
                <a:cs typeface="Calibri"/>
                <a:sym typeface="Calibri"/>
              </a:rPr>
              <a:t>CADA ALUNO DEVE PREENCHER DA SUA FORMA. PORÉM DEVEM CONSTAR AS INFO’S SOLICITADAS</a:t>
            </a:r>
            <a:endParaRPr b="0" i="0" sz="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200"/>
              <a:buFont typeface="Arial"/>
              <a:buNone/>
            </a:pPr>
            <a:r>
              <a:t/>
            </a:r>
            <a:endParaRPr b="0" i="0" sz="2600" u="none" cap="none" strike="noStrike">
              <a:solidFill>
                <a:srgbClr val="FF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pt-BR" sz="2600" u="none" cap="none" strike="noStrike">
                <a:solidFill>
                  <a:srgbClr val="FF0000"/>
                </a:solidFill>
                <a:latin typeface="Calibri"/>
                <a:ea typeface="Calibri"/>
                <a:cs typeface="Calibri"/>
                <a:sym typeface="Calibri"/>
              </a:rPr>
              <a:t>Exemplo:</a:t>
            </a:r>
            <a:endParaRPr b="0" i="0" sz="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200"/>
              <a:buFont typeface="Arial"/>
              <a:buNone/>
            </a:pPr>
            <a:r>
              <a:t/>
            </a:r>
            <a:endParaRPr b="0" i="0" sz="2600" u="none" cap="none" strike="noStrike">
              <a:solidFill>
                <a:srgbClr val="FF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2600" u="none" cap="none" strike="noStrike">
              <a:solidFill>
                <a:srgbClr val="FF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rPr b="0" i="0" lang="pt-BR" u="none" cap="none" strike="noStrike">
                <a:solidFill>
                  <a:srgbClr val="FF0000"/>
                </a:solidFill>
                <a:latin typeface="Calibri"/>
                <a:ea typeface="Calibri"/>
                <a:cs typeface="Calibri"/>
                <a:sym typeface="Calibri"/>
              </a:rPr>
              <a:t>A oportunidade de vivenciar o dia-a-dia de uma obra corporativa, trabalhando com levantamentos de quantitativos, gestão de qualidade, orçamentos de obras garantindo ao discente a outra visão do mercado de trabalho, e das dificuldades que serão enfrentadas pelo profissional depois de formado. Ao mesmo tempo o estágio permite ao aluno conhecer suas limitações, poder talvez já escolher em que área de atuação vai trabalhar, porque a engenharia abre um leque muito grande de oportunidades ao engenheiro formado, logo conhecendo um pouco das suas fraquezas e habilidades fica mais fácil escolher no que trabalhar depois de formado.</a:t>
            </a:r>
            <a:endParaRPr b="0" i="0" sz="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pt-BR" u="none" cap="none" strike="noStrike">
                <a:solidFill>
                  <a:srgbClr val="FF0000"/>
                </a:solidFill>
                <a:latin typeface="Calibri"/>
                <a:ea typeface="Calibri"/>
                <a:cs typeface="Calibri"/>
                <a:sym typeface="Calibri"/>
              </a:rPr>
              <a:t>O estágio é de grande importância por ser uma atividade prática que abrange todos os conhecimentos da graduação além de fornecer uma experiência do mercado de trabalho, retratando um conhecimento dos obstáculos que estão por vir. De forma que existe uma grande variedade de mercado para o engenheiro civil.</a:t>
            </a:r>
            <a:endParaRPr b="0" i="0" sz="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200"/>
              <a:buFont typeface="Arial"/>
              <a:buNone/>
            </a:pPr>
            <a:r>
              <a:t/>
            </a:r>
            <a:endParaRPr b="0" i="0" sz="2600" u="none" cap="none" strike="noStrike">
              <a:solidFill>
                <a:srgbClr val="FF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8"/>
          <p:cNvSpPr txBox="1"/>
          <p:nvPr>
            <p:ph idx="12" type="sldNum"/>
          </p:nvPr>
        </p:nvSpPr>
        <p:spPr>
          <a:xfrm>
            <a:off x="10805859" y="85350"/>
            <a:ext cx="112278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Twentieth Century"/>
              <a:buNone/>
            </a:pPr>
            <a:fld id="{00000000-1234-1234-1234-123412341234}" type="slidenum">
              <a:rPr b="1" lang="pt-BR" sz="1800">
                <a:solidFill>
                  <a:schemeClr val="dk1"/>
                </a:solidFill>
                <a:latin typeface="Twentieth Century"/>
                <a:ea typeface="Twentieth Century"/>
                <a:cs typeface="Twentieth Century"/>
                <a:sym typeface="Twentieth Century"/>
              </a:rPr>
              <a:t>‹#›</a:t>
            </a:fld>
            <a:endParaRPr b="1" sz="1800">
              <a:solidFill>
                <a:schemeClr val="dk1"/>
              </a:solidFill>
              <a:latin typeface="Twentieth Century"/>
              <a:ea typeface="Twentieth Century"/>
              <a:cs typeface="Twentieth Century"/>
              <a:sym typeface="Twentieth Century"/>
            </a:endParaRPr>
          </a:p>
        </p:txBody>
      </p:sp>
      <p:sp>
        <p:nvSpPr>
          <p:cNvPr id="156" name="Google Shape;156;p18"/>
          <p:cNvSpPr/>
          <p:nvPr/>
        </p:nvSpPr>
        <p:spPr>
          <a:xfrm>
            <a:off x="263352" y="81143"/>
            <a:ext cx="4176464" cy="3692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69B20"/>
              </a:buClr>
              <a:buSzPts val="1800"/>
              <a:buFont typeface="Twentieth Century"/>
              <a:buNone/>
            </a:pPr>
            <a:r>
              <a:rPr b="1" i="0" lang="pt-BR" sz="1800" u="none" cap="none" strike="noStrike">
                <a:solidFill>
                  <a:srgbClr val="469B20"/>
                </a:solidFill>
                <a:latin typeface="Twentieth Century"/>
                <a:ea typeface="Twentieth Century"/>
                <a:cs typeface="Twentieth Century"/>
                <a:sym typeface="Twentieth Century"/>
              </a:rPr>
              <a:t>REFERÊNCIAS</a:t>
            </a:r>
            <a:endParaRPr b="0" i="0" sz="1800" u="none" cap="none" strike="noStrike">
              <a:solidFill>
                <a:srgbClr val="469B20"/>
              </a:solidFill>
              <a:latin typeface="Twentieth Century"/>
              <a:ea typeface="Twentieth Century"/>
              <a:cs typeface="Twentieth Century"/>
              <a:sym typeface="Twentieth Century"/>
            </a:endParaRPr>
          </a:p>
        </p:txBody>
      </p:sp>
      <p:cxnSp>
        <p:nvCxnSpPr>
          <p:cNvPr id="157" name="Google Shape;157;p18"/>
          <p:cNvCxnSpPr/>
          <p:nvPr/>
        </p:nvCxnSpPr>
        <p:spPr>
          <a:xfrm>
            <a:off x="263352" y="488382"/>
            <a:ext cx="11665296" cy="0"/>
          </a:xfrm>
          <a:prstGeom prst="straightConnector1">
            <a:avLst/>
          </a:prstGeom>
          <a:noFill/>
          <a:ln cap="flat" cmpd="sng" w="28575">
            <a:solidFill>
              <a:srgbClr val="418C21"/>
            </a:solidFill>
            <a:prstDash val="solid"/>
            <a:miter lim="800000"/>
            <a:headEnd len="sm" w="sm" type="none"/>
            <a:tailEnd len="sm" w="sm" type="none"/>
          </a:ln>
        </p:spPr>
      </p:cxnSp>
      <p:cxnSp>
        <p:nvCxnSpPr>
          <p:cNvPr id="158" name="Google Shape;158;p18"/>
          <p:cNvCxnSpPr/>
          <p:nvPr/>
        </p:nvCxnSpPr>
        <p:spPr>
          <a:xfrm>
            <a:off x="368431" y="6309320"/>
            <a:ext cx="2016224" cy="0"/>
          </a:xfrm>
          <a:prstGeom prst="straightConnector1">
            <a:avLst/>
          </a:prstGeom>
          <a:noFill/>
          <a:ln cap="flat" cmpd="sng" w="28575">
            <a:solidFill>
              <a:srgbClr val="418C21"/>
            </a:solidFill>
            <a:prstDash val="solid"/>
            <a:miter lim="800000"/>
            <a:headEnd len="sm" w="sm" type="none"/>
            <a:tailEnd len="sm" w="sm" type="none"/>
          </a:ln>
        </p:spPr>
      </p:cxnSp>
      <p:sp>
        <p:nvSpPr>
          <p:cNvPr id="159" name="Google Shape;159;p18"/>
          <p:cNvSpPr/>
          <p:nvPr/>
        </p:nvSpPr>
        <p:spPr>
          <a:xfrm>
            <a:off x="263352" y="6437303"/>
            <a:ext cx="7920880" cy="30777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400"/>
              <a:buFont typeface="Arial"/>
              <a:buNone/>
            </a:pPr>
            <a:r>
              <a:rPr b="1" i="0" lang="pt-BR" sz="1400" u="none" cap="none" strike="noStrike">
                <a:solidFill>
                  <a:srgbClr val="469B20"/>
                </a:solidFill>
                <a:latin typeface="Twentieth Century"/>
                <a:ea typeface="Twentieth Century"/>
                <a:cs typeface="Twentieth Century"/>
                <a:sym typeface="Twentieth Century"/>
              </a:rPr>
              <a:t>ESTÁGIO CURRICULAR OBRIGATÓRIO (ECO)</a:t>
            </a:r>
            <a:endParaRPr b="1" i="0" sz="1400" u="none" cap="none" strike="noStrike">
              <a:solidFill>
                <a:srgbClr val="FF0000"/>
              </a:solidFill>
              <a:latin typeface="Twentieth Century"/>
              <a:ea typeface="Twentieth Century"/>
              <a:cs typeface="Twentieth Century"/>
              <a:sym typeface="Twentieth Century"/>
            </a:endParaRPr>
          </a:p>
        </p:txBody>
      </p:sp>
      <p:cxnSp>
        <p:nvCxnSpPr>
          <p:cNvPr id="160" name="Google Shape;160;p18"/>
          <p:cNvCxnSpPr/>
          <p:nvPr/>
        </p:nvCxnSpPr>
        <p:spPr>
          <a:xfrm>
            <a:off x="3474828" y="1784834"/>
            <a:ext cx="2088300" cy="0"/>
          </a:xfrm>
          <a:prstGeom prst="straightConnector1">
            <a:avLst/>
          </a:prstGeom>
          <a:noFill/>
          <a:ln cap="flat" cmpd="sng" w="9525">
            <a:solidFill>
              <a:srgbClr val="FF0000"/>
            </a:solidFill>
            <a:prstDash val="solid"/>
            <a:miter lim="800000"/>
            <a:headEnd len="sm" w="sm" type="none"/>
            <a:tailEnd len="med" w="med" type="triangle"/>
          </a:ln>
        </p:spPr>
      </p:cxnSp>
      <p:sp>
        <p:nvSpPr>
          <p:cNvPr id="161" name="Google Shape;161;p18"/>
          <p:cNvSpPr txBox="1"/>
          <p:nvPr/>
        </p:nvSpPr>
        <p:spPr>
          <a:xfrm>
            <a:off x="5563050" y="826450"/>
            <a:ext cx="5070000" cy="4587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lang="pt-BR" sz="2600">
                <a:solidFill>
                  <a:srgbClr val="FF0000"/>
                </a:solidFill>
                <a:latin typeface="Calibri"/>
                <a:ea typeface="Calibri"/>
                <a:cs typeface="Calibri"/>
                <a:sym typeface="Calibri"/>
              </a:rPr>
              <a:t>PREENCHER COM AS REFERÊNCIAS USADAS PARA CONSTRUIR A APT</a:t>
            </a:r>
            <a:endParaRPr sz="2600">
              <a:solidFill>
                <a:srgbClr val="FF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t/>
            </a:r>
            <a:endParaRPr sz="2600">
              <a:solidFill>
                <a:srgbClr val="FF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rPr lang="pt-BR" sz="2600">
                <a:solidFill>
                  <a:srgbClr val="FF0000"/>
                </a:solidFill>
                <a:latin typeface="Calibri"/>
                <a:ea typeface="Calibri"/>
                <a:cs typeface="Calibri"/>
                <a:sym typeface="Calibri"/>
              </a:rPr>
              <a:t>COLOQUE OBRIGATORIAMENTE A LEI DO ESTÁGIO:</a:t>
            </a:r>
            <a:endParaRPr sz="2600">
              <a:solidFill>
                <a:srgbClr val="FF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t/>
            </a:r>
            <a:endParaRPr sz="2600">
              <a:solidFill>
                <a:schemeClr val="dk1"/>
              </a:solidFill>
              <a:latin typeface="Josefin Sans"/>
              <a:ea typeface="Josefin Sans"/>
              <a:cs typeface="Josefin Sans"/>
              <a:sym typeface="Josefin Sans"/>
            </a:endParaRPr>
          </a:p>
          <a:p>
            <a:pPr indent="0" lvl="0" marL="0" rtl="0" algn="just">
              <a:spcBef>
                <a:spcPts val="600"/>
              </a:spcBef>
              <a:spcAft>
                <a:spcPts val="0"/>
              </a:spcAft>
              <a:buClr>
                <a:schemeClr val="dk1"/>
              </a:buClr>
              <a:buSzPts val="1100"/>
              <a:buFont typeface="Arial"/>
              <a:buNone/>
            </a:pPr>
            <a:r>
              <a:rPr lang="pt-BR" sz="2000">
                <a:solidFill>
                  <a:srgbClr val="FF0000"/>
                </a:solidFill>
                <a:uFill>
                  <a:noFill/>
                </a:uFill>
                <a:latin typeface="Josefin Sans"/>
                <a:ea typeface="Josefin Sans"/>
                <a:cs typeface="Josefin Sans"/>
                <a:sym typeface="Josefin Sans"/>
                <a:hlinkClick r:id="rId3">
                  <a:extLst>
                    <a:ext uri="{A12FA001-AC4F-418D-AE19-62706E023703}">
                      <ahyp:hlinkClr val="tx"/>
                    </a:ext>
                  </a:extLst>
                </a:hlinkClick>
              </a:rPr>
              <a:t>______. Lei n</a:t>
            </a:r>
            <a:r>
              <a:rPr baseline="30000" lang="pt-BR" sz="2000">
                <a:solidFill>
                  <a:srgbClr val="FF0000"/>
                </a:solidFill>
                <a:uFill>
                  <a:noFill/>
                </a:uFill>
                <a:latin typeface="Josefin Sans"/>
                <a:ea typeface="Josefin Sans"/>
                <a:cs typeface="Josefin Sans"/>
                <a:sym typeface="Josefin Sans"/>
                <a:hlinkClick r:id="rId4">
                  <a:extLst>
                    <a:ext uri="{A12FA001-AC4F-418D-AE19-62706E023703}">
                      <ahyp:hlinkClr val="tx"/>
                    </a:ext>
                  </a:extLst>
                </a:hlinkClick>
              </a:rPr>
              <a:t>o</a:t>
            </a:r>
            <a:r>
              <a:rPr lang="pt-BR" sz="2000">
                <a:solidFill>
                  <a:srgbClr val="FF0000"/>
                </a:solidFill>
                <a:uFill>
                  <a:noFill/>
                </a:uFill>
                <a:latin typeface="Josefin Sans"/>
                <a:ea typeface="Josefin Sans"/>
                <a:cs typeface="Josefin Sans"/>
                <a:sym typeface="Josefin Sans"/>
                <a:hlinkClick r:id="rId5">
                  <a:extLst>
                    <a:ext uri="{A12FA001-AC4F-418D-AE19-62706E023703}">
                      <ahyp:hlinkClr val="tx"/>
                    </a:ext>
                  </a:extLst>
                </a:hlinkClick>
              </a:rPr>
              <a:t> 11.788, de 25 de setembro de 2008. Dispõe sobre o estágio de estudantes; altera a redação do art. 428 da Consolidação das Leis do Trabalho (CLT). . 26 set. 2008. </a:t>
            </a:r>
            <a:endParaRPr sz="2000">
              <a:solidFill>
                <a:srgbClr val="FF0000"/>
              </a:solidFill>
              <a:latin typeface="Josefin Sans"/>
              <a:ea typeface="Josefin Sans"/>
              <a:cs typeface="Josefin Sans"/>
              <a:sym typeface="Josefin Sans"/>
            </a:endParaRPr>
          </a:p>
          <a:p>
            <a:pPr indent="0" lvl="0" marL="0" marR="0" rtl="0" algn="just">
              <a:lnSpc>
                <a:spcPct val="100000"/>
              </a:lnSpc>
              <a:spcBef>
                <a:spcPts val="600"/>
              </a:spcBef>
              <a:spcAft>
                <a:spcPts val="0"/>
              </a:spcAft>
              <a:buClr>
                <a:srgbClr val="000000"/>
              </a:buClr>
              <a:buSzPts val="3200"/>
              <a:buFont typeface="Arial"/>
              <a:buNone/>
            </a:pPr>
            <a:r>
              <a:t/>
            </a:r>
            <a:endParaRPr b="0" i="0" sz="2600" u="none" cap="none" strike="noStrike">
              <a:solidFill>
                <a:srgbClr val="FF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9"/>
          <p:cNvSpPr/>
          <p:nvPr/>
        </p:nvSpPr>
        <p:spPr>
          <a:xfrm>
            <a:off x="0" y="0"/>
            <a:ext cx="1259632" cy="6858000"/>
          </a:xfrm>
          <a:prstGeom prst="rect">
            <a:avLst/>
          </a:prstGeom>
          <a:solidFill>
            <a:srgbClr val="418C21"/>
          </a:solidFill>
          <a:ln cap="flat" cmpd="sng" w="12700">
            <a:solidFill>
              <a:srgbClr val="418C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175F78"/>
              </a:solidFill>
              <a:highlight>
                <a:srgbClr val="73291D"/>
              </a:highlight>
              <a:latin typeface="Calibri"/>
              <a:ea typeface="Calibri"/>
              <a:cs typeface="Calibri"/>
              <a:sym typeface="Calibri"/>
            </a:endParaRPr>
          </a:p>
        </p:txBody>
      </p:sp>
      <p:sp>
        <p:nvSpPr>
          <p:cNvPr id="167" name="Google Shape;167;p19"/>
          <p:cNvSpPr txBox="1"/>
          <p:nvPr/>
        </p:nvSpPr>
        <p:spPr>
          <a:xfrm>
            <a:off x="1487488" y="266264"/>
            <a:ext cx="5573463"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pt-BR" sz="2400" u="none" cap="none" strike="noStrike">
                <a:solidFill>
                  <a:srgbClr val="469B20"/>
                </a:solidFill>
                <a:latin typeface="Twentieth Century"/>
                <a:ea typeface="Twentieth Century"/>
                <a:cs typeface="Twentieth Century"/>
                <a:sym typeface="Twentieth Century"/>
              </a:rPr>
              <a:t>OBRIGADO A TODOS PELA ATENÇÃO!</a:t>
            </a:r>
            <a:endParaRPr b="0" i="0" sz="1400" u="none" cap="none" strike="noStrike">
              <a:solidFill>
                <a:srgbClr val="000000"/>
              </a:solidFill>
              <a:latin typeface="Arial"/>
              <a:ea typeface="Arial"/>
              <a:cs typeface="Arial"/>
              <a:sym typeface="Arial"/>
            </a:endParaRPr>
          </a:p>
        </p:txBody>
      </p:sp>
      <p:pic>
        <p:nvPicPr>
          <p:cNvPr id="168" name="Google Shape;168;p19"/>
          <p:cNvPicPr preferRelativeResize="0"/>
          <p:nvPr/>
        </p:nvPicPr>
        <p:blipFill rotWithShape="1">
          <a:blip r:embed="rId3">
            <a:alphaModFix/>
          </a:blip>
          <a:srcRect b="0" l="0" r="0" t="0"/>
          <a:stretch/>
        </p:blipFill>
        <p:spPr>
          <a:xfrm>
            <a:off x="2135560" y="208796"/>
            <a:ext cx="8884344" cy="644040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